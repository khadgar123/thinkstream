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A2E"/>
                </a:solidFill>
                <a:latin typeface="Arial"/>
              </a:rPr>
              <a:t>Token Budget (~3,400)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Token 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2A9DB5"/>
              </a:solidFill>
              <a:effectLst/>
            </c:spPr>
          </c:dPt>
          <c:dPt>
            <c:idx val="4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System 150</c:v>
                </c:pt>
                <c:pt idx="1">
                  <c:v>Visual 1536</c:v>
                </c:pt>
                <c:pt idx="2">
                  <c:v>Compressed 750</c:v>
                </c:pt>
                <c:pt idx="3">
                  <c:v>Recent 600</c:v>
                </c:pt>
                <c:pt idx="4">
                  <c:v>User 100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150</c:v>
                </c:pt>
                <c:pt idx="1">
                  <c:v>1536</c:v>
                </c:pt>
                <c:pt idx="2">
                  <c:v>750</c:v>
                </c:pt>
                <c:pt idx="3">
                  <c:v>600</c:v>
                </c:pt>
                <c:pt idx="4">
                  <c:v>100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3200400" cy="32004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2743200"/>
            <a:ext cx="1828800" cy="1828800"/>
          </a:xfrm>
          <a:prstGeom prst="ellipse">
            <a:avLst/>
          </a:prstGeom>
          <a:solidFill>
            <a:srgbClr val="2A9DB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ThinkStream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Thinking in Streaming Video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流式视频理解</a:t>
            </a:r>
            <a:pPr indent="0" marL="0">
              <a:buNone/>
            </a:pPr>
            <a:r>
              <a:rPr lang="en-US" sz="18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边看边思考</a:t>
            </a:r>
            <a:pPr indent="0" marL="0">
              <a:buNone/>
            </a:pPr>
            <a:r>
              <a:rPr lang="en-US" sz="18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无限长度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2603.12938  | 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914400"/>
            <a:ext cx="109728" cy="548640"/>
          </a:xfrm>
          <a:prstGeom prst="rect">
            <a:avLst/>
          </a:prstGeom>
          <a:solidFill>
            <a:srgbClr val="CADCFC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111185"/>
            <a:ext cx="109728" cy="804317"/>
          </a:xfrm>
          <a:prstGeom prst="rect">
            <a:avLst/>
          </a:prstGeom>
          <a:solidFill>
            <a:srgbClr val="CADCFC">
              <a:alpha val="5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1188603"/>
            <a:ext cx="109728" cy="733933"/>
          </a:xfrm>
          <a:prstGeom prst="rect">
            <a:avLst/>
          </a:prstGeom>
          <a:solidFill>
            <a:srgbClr val="CADCFC">
              <a:alpha val="4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086600" y="1099693"/>
            <a:ext cx="109728" cy="427248"/>
          </a:xfrm>
          <a:prstGeom prst="rect">
            <a:avLst/>
          </a:prstGeom>
          <a:solidFill>
            <a:srgbClr val="CADCFC">
              <a:alpha val="3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0" y="898387"/>
            <a:ext cx="109728" cy="275372"/>
          </a:xfrm>
          <a:prstGeom prst="rect">
            <a:avLst/>
          </a:prstGeom>
          <a:solidFill>
            <a:srgbClr val="CADCFC">
              <a:alpha val="2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Streaming? 为什么需要流式理解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传统方法的瓶颈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09728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必须等视频播放完才能回答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无法实时交互，响应延迟极高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51460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1小时视频 → ~1M tokens → 57GB VRAM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显存消耗与视频长度线性增长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365760" cy="36576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109728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无法处理无限长直播/监控场景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内存窗口固定，只能看有限片段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ThinkStream 的突破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74920" y="16002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560" dirty="0"/>
          </a:p>
        </p:txBody>
      </p:sp>
      <p:sp>
        <p:nvSpPr>
          <p:cNvPr id="22" name="Text 20"/>
          <p:cNvSpPr/>
          <p:nvPr/>
        </p:nvSpPr>
        <p:spPr>
          <a:xfrm>
            <a:off x="5577840" y="1600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每2秒实时推理，即时响应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用户提问后可在当前步立即回答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5146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5577840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~3,400 tokens，与视频长度无关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压缩记忆机制保证恒定内存占用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3429000"/>
            <a:ext cx="365760" cy="36576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560" dirty="0"/>
          </a:p>
        </p:txBody>
      </p:sp>
      <p:sp>
        <p:nvSpPr>
          <p:cNvPr id="30" name="Text 28"/>
          <p:cNvSpPr/>
          <p:nvPr/>
        </p:nvSpPr>
        <p:spPr>
          <a:xfrm>
            <a:off x="557784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理论支持无限长度视频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3703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滚动窗口 + 压缩归档，无上限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</a:t>
            </a:r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prefill reduction per step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Watch-Think-Speak 三阶段架构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23774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观察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2秒视频块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24帧滑动窗口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接收新的视觉输入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205740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947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0515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051560"/>
            <a:ext cx="237744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思考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 tokens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增量式推理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生成观察记忆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205740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9476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1051560"/>
            <a:ext cx="23774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051560"/>
            <a:ext cx="2377440" cy="45720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051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行动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1600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4种动作选择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/ response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/ compress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337560"/>
            <a:ext cx="804672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0020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0332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62356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09560" y="3264408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7726680" y="34747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t=∞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连续流式处理，每2秒一个循环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822960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核心设计：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timestep 独立重新渲染 (Per-Timestep Re-render)，不累积 KV cache。输入 = [system] + [视觉窗口] + [记忆文本] + [用户输入]，总长 ~3,400 tokens。H100 上每步 ~200ms，远小于 2秒实时预算。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Reasoning-Compressed Streaming Memory (RCSM)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51206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24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Segments 压缩段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[0-20s] Chef prepared workspace...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024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≤750 tok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 segments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51206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874520"/>
            <a:ext cx="73152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Thinks 近期思考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[40-42] Oil heated... [42-44] Garlic added...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1892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≤600 tok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1671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12 items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51206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B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73152" cy="749808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Questions 待答问题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{"since":44, "question":"when basil?"}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2761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0358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事件监控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11880"/>
            <a:ext cx="512064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4A556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611880"/>
            <a:ext cx="73152" cy="74980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630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Archive 检索归档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904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历史存储，供 recall 检索 (模型不可见)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3630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904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from model</a:t>
            </a:r>
            <a:endParaRPr lang="en-US" sz="9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5669280" y="914400"/>
          <a:ext cx="32004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5669280" y="3657600"/>
            <a:ext cx="32004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80644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核心洞察：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文本记忆的时间跨度 &gt; 视觉窗口，压缩段归纳了更久远的过去，支持长程依赖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65760" y="4572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固定内存占用 → 1分钟视频和1小时视频消耗相同的 token 预算，真正实现无限长度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长程依赖：文本记忆覆盖更远的过去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468880"/>
            <a:ext cx="8046720" cy="27432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377440"/>
            <a:ext cx="1828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2377440"/>
            <a:ext cx="1828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1828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12080" y="2377440"/>
            <a:ext cx="1828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0" y="2377440"/>
            <a:ext cx="18288" cy="20116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26060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t=70 (now)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737360"/>
            <a:ext cx="4023360" cy="59436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755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Segments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压缩段: 高层语义概括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737360"/>
            <a:ext cx="4023360" cy="59436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755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Thinks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近期思考: 详细逐步观察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2926080"/>
            <a:ext cx="3383280" cy="411480"/>
          </a:xfrm>
          <a:prstGeom prst="rect">
            <a:avLst/>
          </a:prstGeom>
          <a:solidFill>
            <a:srgbClr val="2A9DB5">
              <a:alpha val="75000"/>
            </a:srgbClr>
          </a:solidFill>
          <a:ln w="12700">
            <a:solidFill>
              <a:srgbClr val="2A9D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9443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Window [46-70s] 24 帧原始视频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804672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18288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文本记忆跨度 (Text Memory Span) — 覆盖全部时间范围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能力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t=28的证据已离开视觉窗口，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但仍在 archive 中可检索，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recall 机制找回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47472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2044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压缩效率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旧的记忆保留高层概要，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近期记忆保留完整细节，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形成多层次信息密度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3474720"/>
            <a:ext cx="256032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长程上下文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t=70的回答可以引用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t=0的压缩摘要信息，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理论上无时间距离限制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压缩机制：C1 系统指导 → C2 自主选择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触发条件：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recent_thinks tokens ≥ 80% budget (480 tok) → 触发压缩 | 压缩后降至 ≤55% (330 tok) → 防止震荡 (hysteresis)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4023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C1: Teacher-Guided 教师指导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多维度评分：枚举所有合法 4-8 think 范围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评分维度：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importance_lost (实体/OCR/数字损失)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pending_overlap_penalty (待答信息保护)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event_boundary_penalty (事件边界保护)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token_saving_gain (节省奖励)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reconstructability_bonus (可重建奖励)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选择最优范围 → 生成摘要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0233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00200"/>
            <a:ext cx="402336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002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C2: Self-Selection 自主选择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1031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模型自主选择哪些 thinks 需要压缩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训练目标：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= Teacher 的 C1 策略输出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无显式 range 指导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模型学会评估哪些信息可以安全压缩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C1 → C2 的进化：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C1: 系统告诉压缩范围，模型学摘要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C2: 模型同时学会选范围+写摘要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4800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压缩比 ≥ 2.5:1 | 摘要仅基于被压缩的 thinks，不引入额外视觉信息 | 摘要不能包含帧中可见但 thinks 未提及的事实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压缩执行顺序与约束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754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430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30" dirty="0"/>
          </a:p>
        </p:txBody>
      </p:sp>
      <p:sp>
        <p:nvSpPr>
          <p:cNvPr id="7" name="Text 5"/>
          <p:cNvSpPr/>
          <p:nvPr/>
        </p:nvSpPr>
        <p:spPr>
          <a:xfrm>
            <a:off x="11430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258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压缩前的 memory snapshot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不包含当前 think（还未生成）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01168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1031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754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3172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30" dirty="0"/>
          </a:p>
        </p:txBody>
      </p:sp>
      <p:sp>
        <p:nvSpPr>
          <p:cNvPr id="14" name="Text 12"/>
          <p:cNvSpPr/>
          <p:nvPr/>
        </p:nvSpPr>
        <p:spPr>
          <a:xfrm>
            <a:off x="114300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&lt;think&gt;X&lt;/think&gt;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&lt;action&gt;compress&lt;/action&gt;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&lt;summary&gt;Y&lt;/summary&gt;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3200400"/>
            <a:ext cx="0" cy="1828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2918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7548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2A9DB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11430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执行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03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用 summary Y 替换指定范围的 thinks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将当前 think X 追加到 memory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1005840"/>
            <a:ext cx="3291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2356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迟滞机制 (Hysteresis)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solidFill>
            <a:srgbClr val="E53E3E">
              <a:alpha val="3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06440" y="1554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(480 tok) → 触发压缩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1965960"/>
            <a:ext cx="1920240" cy="320040"/>
          </a:xfrm>
          <a:prstGeom prst="rect">
            <a:avLst/>
          </a:prstGeom>
          <a:solidFill>
            <a:srgbClr val="38A169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06440" y="1965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(330 tok) → 压缩目标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压缩后降至此线以下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防止压缩震荡：避免每步都触发压缩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3200400"/>
            <a:ext cx="3291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23560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关键约束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5661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模型压缩 INPUT 中的 recent_thinks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不能压缩当前正在生成的 think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摘要只能引用被压缩 thinks 信息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不能引入帧中可见但 thinks 未提及的事实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用精确 tokenizer 计算（非估算）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机制：两步检索编排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840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Query Generation 查询生成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当前问题 + 可见记忆上下文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(不提供 gold_answer！)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&lt;think&gt;...&lt;/think&gt;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&lt;action&gt;recall&lt;/action&gt;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&lt;query&gt;{JSON}&lt;/query&gt;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系统解析 query，搜索 archive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148840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039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38404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Post-Recall Response 检索后回答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4630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 + recall_result (top-4)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recalled_frames (4s视频帧)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&lt;action&gt;response&lt;/action&gt;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&lt;response&gt;回答内容&lt;/response&gt;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&lt;think&gt; 标签 → 避免 double write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3891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3E3E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防泄漏：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绝对不能包含答案关键词，仅包含检索意图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检索结果噪声分布 (训练时模拟不完美检索)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3200400" cy="18288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19" name="Shape 17"/>
          <p:cNvSpPr/>
          <p:nvPr/>
        </p:nvSpPr>
        <p:spPr>
          <a:xfrm>
            <a:off x="3721608" y="4434840"/>
            <a:ext cx="914400" cy="18288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54296" y="4434840"/>
            <a:ext cx="228600" cy="18288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901184" y="4434840"/>
            <a:ext cx="228600" cy="1828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Oracle: 正确证据在 rank 1  | 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Noisy: 正确在 rank 2-4  | 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All-Wrong: 仅干扰项  |  </a:t>
            </a:r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Failure: 空结果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检索来源 (仅学生可见)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3794760"/>
          <a:ext cx="3383280" cy="64008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</a:tblGrid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来源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student_think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学生自己的观察文本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compressed_summary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学生生成的压缩摘要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historical_frames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4s 原始视频帧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流式视频位置编码：Zone-Based + Temporal MROPE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输入布局 (视频前置)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97280" cy="640080"/>
          </a:xfrm>
          <a:prstGeom prst="rect">
            <a:avLst/>
          </a:prstGeom>
          <a:solidFill>
            <a:srgbClr val="4A5568">
              <a:alpha val="75000"/>
            </a:srgbClr>
          </a:solidFill>
          <a:ln w="1524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A: System Prompt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tok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KV reuse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719072" y="1280160"/>
            <a:ext cx="3200400" cy="640080"/>
          </a:xfrm>
          <a:prstGeom prst="rect">
            <a:avLst/>
          </a:prstGeom>
          <a:solidFill>
            <a:srgbClr val="065A82">
              <a:alpha val="75000"/>
            </a:srgbClr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4792" y="1280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B: Visual Window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64792" y="14813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~1,536 tok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64792" y="166420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position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92624" y="1280160"/>
            <a:ext cx="2560320" cy="640080"/>
          </a:xfrm>
          <a:prstGeom prst="rect">
            <a:avLst/>
          </a:prstGeom>
          <a:solidFill>
            <a:srgbClr val="1C7293">
              <a:alpha val="75000"/>
            </a:srgbClr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C: Memory Text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4813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~600-1,350 tok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38344" y="166420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only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626096" y="1280160"/>
            <a:ext cx="731520" cy="640080"/>
          </a:xfrm>
          <a:prstGeom prst="rect">
            <a:avLst/>
          </a:prstGeom>
          <a:solidFill>
            <a:srgbClr val="2A9DB5">
              <a:alpha val="75000"/>
            </a:srgbClr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1816" y="1280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D: User Input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71816" y="14813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tok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71816" y="16642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new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关键变更：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视频移至前端 (Zone B)，位置索引稳定 → Zone A+B 的 KV cache 可跨步复用 → 每步仅需重算 Zone C+D → </a:t>
            </a:r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prefill 减少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Temporal-Aligned MROPE 时间对齐位置编码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06324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108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3D RoPE: (temporal, height, width)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401568"/>
            <a:ext cx="3474720" cy="50292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015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 (t=10s)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temporal=encode(10), h=grid[0], w=grid[1]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995928"/>
            <a:ext cx="3474720" cy="50292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9959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text (t=10s)
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temporal=encode(10), h=seq_idx, w=seq_idx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8587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SAME temporal ↑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3063240"/>
            <a:ext cx="42062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3108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跨模态注意力增强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09160" y="34290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视频帧和对应时刻的 think 文本共享相同的时间维度位置编码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即使在序列中相距 1000+ tokens，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时间维度距离 = 0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视觉-文本跨模态 attention 显著增强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模型更容易将 think 与对应帧关联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压缩摘要与原始时间范围对齐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 Cache 分区策略：按 Zone 增量更新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5029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普通步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73152" cy="3200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554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(System)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7007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 (reuse)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73152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(Visual)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21122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~128 tok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3774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(Memory)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25237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tok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73152" cy="32004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889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 (User)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4360" y="29352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tok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2377440" cy="2743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Prefill: </a:t>
            </a:r>
            <a:pPr algn="ctr" indent="0" marL="0">
              <a:buNone/>
            </a:pPr>
            <a:r>
              <a:rPr lang="en-US" sz="14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~228 tok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9601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960120"/>
            <a:ext cx="2560320" cy="50292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Step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1554480"/>
            <a:ext cx="73152" cy="3200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554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(System)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20440" y="17007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 (reuse)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83280" y="1965960"/>
            <a:ext cx="73152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(Visual)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20440" y="21122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~128 tok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237744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23774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(Memory)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20440" y="25237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tok ★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788920"/>
            <a:ext cx="73152" cy="32004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27889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 (User)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520440" y="29352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tok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3246120"/>
            <a:ext cx="2377440" cy="2743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7" name="Text 35"/>
          <p:cNvSpPr/>
          <p:nvPr/>
        </p:nvSpPr>
        <p:spPr>
          <a:xfrm>
            <a:off x="338328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Prefill: </a:t>
            </a:r>
            <a:pPr algn="ctr"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~678 tok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0" y="96012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960120"/>
            <a:ext cx="2560320" cy="5029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960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Step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检索步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309360" y="1554480"/>
            <a:ext cx="73152" cy="32004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1554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(System)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446520" y="170078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tok (reuse)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09360" y="1965960"/>
            <a:ext cx="73152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19659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(Visual)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46520" y="211226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~384 tok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309360" y="2377440"/>
            <a:ext cx="73152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23774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 (Memory)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446520" y="25237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tok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2788920"/>
            <a:ext cx="73152" cy="32004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27889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 (User)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46520" y="293522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tok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09360" y="3246120"/>
            <a:ext cx="2377440" cy="27432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Prefill: </a:t>
            </a:r>
            <a:pPr algn="ctr"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~634 tok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02920" y="4206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对比：传统方法每步 full prefill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02920" y="4480560"/>
            <a:ext cx="5486400" cy="182880"/>
          </a:xfrm>
          <a:prstGeom prst="rect">
            <a:avLst/>
          </a:prstGeom>
          <a:solidFill>
            <a:srgbClr val="E53E3E">
              <a:alpha val="7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4805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~3,086 tok (full prefill)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2920" y="4681728"/>
            <a:ext cx="548640" cy="182880"/>
          </a:xfrm>
          <a:prstGeom prst="rect">
            <a:avLst/>
          </a:prstGeom>
          <a:solidFill>
            <a:srgbClr val="38A169">
              <a:alpha val="7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681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~228 tok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126480" y="4206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reduction  |  </a:t>
            </a:r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 ~200ms/step  |  2s budget  |  实时推理✔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五阶段数据构造流水线 (Agent Data v5)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60350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058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88" dirty="0"/>
          </a:p>
        </p:txBody>
      </p:sp>
      <p:sp>
        <p:nvSpPr>
          <p:cNvPr id="7" name="Text 5"/>
          <p:cNvSpPr/>
          <p:nvPr/>
        </p:nvSpPr>
        <p:spPr>
          <a:xfrm>
            <a:off x="1005840" y="932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Teacher Evidence 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6128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24帧滑动窗口 + 历史caption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逐chunk原子事实 (实体/OCR/数字)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1280160" cy="320040"/>
          </a:xfrm>
          <a:prstGeom prst="rect">
            <a:avLst/>
          </a:prstGeom>
          <a:solidFill>
            <a:srgbClr val="065A82">
              <a:alpha val="20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397B, ~4h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572768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572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60350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7556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88" dirty="0"/>
          </a:p>
        </p:txBody>
      </p:sp>
      <p:sp>
        <p:nvSpPr>
          <p:cNvPr id="16" name="Text 14"/>
          <p:cNvSpPr/>
          <p:nvPr/>
        </p:nvSpPr>
        <p:spPr>
          <a:xfrm>
            <a:off x="1005840" y="16824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Question-Blind Rollout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19110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Visual (无问题!)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thinks + 压缩事件 + 快照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801368"/>
            <a:ext cx="1280160" cy="320040"/>
          </a:xfrm>
          <a:prstGeom prst="rect">
            <a:avLst/>
          </a:prstGeom>
          <a:solidFill>
            <a:srgbClr val="1C7293">
              <a:alpha val="2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8013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397B, ~4h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322576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23225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414016"/>
            <a:ext cx="60350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505456"/>
            <a:ext cx="384048" cy="384048"/>
          </a:xfrm>
          <a:prstGeom prst="ellipse">
            <a:avLst/>
          </a:prstGeom>
          <a:solidFill>
            <a:srgbClr val="2A9DB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88" dirty="0"/>
          </a:p>
        </p:txBody>
      </p:sp>
      <p:sp>
        <p:nvSpPr>
          <p:cNvPr id="25" name="Text 23"/>
          <p:cNvSpPr/>
          <p:nvPr/>
        </p:nvSpPr>
        <p:spPr>
          <a:xfrm>
            <a:off x="1005840" y="2432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3: Task Planning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66090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Teacher证据 + Student rollout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任务定义 + gold action + 答案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551176"/>
            <a:ext cx="1280160" cy="320040"/>
          </a:xfrm>
          <a:prstGeom prst="rect">
            <a:avLst/>
          </a:prstGeom>
          <a:solidFill>
            <a:srgbClr val="2A9DB5">
              <a:alpha val="20000"/>
            </a:srgbClr>
          </a:solidFill>
          <a:ln w="6350">
            <a:solidFill>
              <a:srgbClr val="2A9D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5511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397B, ~1h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3072384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30723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65760" y="3163824"/>
            <a:ext cx="60350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32552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88" dirty="0"/>
          </a:p>
        </p:txBody>
      </p:sp>
      <p:sp>
        <p:nvSpPr>
          <p:cNvPr id="34" name="Text 32"/>
          <p:cNvSpPr/>
          <p:nvPr/>
        </p:nvSpPr>
        <p:spPr>
          <a:xfrm>
            <a:off x="1005840" y="3182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4: Question-Aware Forks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34107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缓存快照 + 任务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Per-timestep SFT 样本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3300984"/>
            <a:ext cx="1280160" cy="320040"/>
          </a:xfrm>
          <a:prstGeom prst="rect">
            <a:avLst/>
          </a:prstGeom>
          <a:solidFill>
            <a:srgbClr val="065A82">
              <a:alpha val="20000"/>
            </a:srgbClr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30098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397B, ~2h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3822192"/>
            <a:ext cx="0" cy="914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38221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7293"/>
                </a:solidFill>
              </a:rPr>
              <a:t>▼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913632"/>
            <a:ext cx="60350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2920" y="40050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88" dirty="0"/>
          </a:p>
        </p:txBody>
      </p:sp>
      <p:sp>
        <p:nvSpPr>
          <p:cNvPr id="43" name="Text 41"/>
          <p:cNvSpPr/>
          <p:nvPr/>
        </p:nvSpPr>
        <p:spPr>
          <a:xfrm>
            <a:off x="1005840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5: Verify + Filter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" y="4160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5类验证 → 最终 .jsonl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信息流/最小性/接地/格式/难度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37760" y="4050792"/>
            <a:ext cx="1280160" cy="320040"/>
          </a:xfrm>
          <a:prstGeom prst="rect">
            <a:avLst/>
          </a:prstGeom>
          <a:solidFill>
            <a:srgbClr val="1C7293">
              <a:alpha val="20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0507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~30min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83680" y="914400"/>
            <a:ext cx="228600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67512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75120" y="1325880"/>
            <a:ext cx="2103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Question-Blind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完全不看任何问题，保证记忆不被未来问题污染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Teacher-Student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分离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证据仅用于评估，学生永远看不到 teacher caption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快照复用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 的 memory 快照被 Pass 4 复用，避免重复滚动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1-2: 教师证据图 &amp; 无问题滚动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515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1: Teacher Evidence Graph 教师证据图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1463040" cy="59436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视频分块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(2s chunks)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1719072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609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417320"/>
            <a:ext cx="1463040" cy="59436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24帧滑动窗口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历史 caption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719072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609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0" y="1417320"/>
            <a:ext cx="1463040" cy="59436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397B Teacher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教师模型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719072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60934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417320"/>
            <a:ext cx="1463040" cy="59436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4173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原子事实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(实体/OCR/数字)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仅用于后续评估，学生永远看不到教师证据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8412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788920"/>
            <a:ext cx="73152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2880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28" name="Text 26"/>
          <p:cNvSpPr/>
          <p:nvPr/>
        </p:nvSpPr>
        <p:spPr>
          <a:xfrm>
            <a:off x="105156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2: Question-Blind Rollout 无问题滚动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4360" y="3291840"/>
            <a:ext cx="1463040" cy="54864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当前记忆状态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356616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3291840"/>
            <a:ext cx="1463040" cy="54864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Window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24帧 + Memory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749040" y="356616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3291840"/>
            <a:ext cx="1463040" cy="54864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Think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生成思考记忆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0" y="356616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60720" y="3291840"/>
            <a:ext cx="1463040" cy="54864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291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Memory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 think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98080" y="3291840"/>
            <a:ext cx="1097280" cy="548640"/>
          </a:xfrm>
          <a:prstGeom prst="rect">
            <a:avLst/>
          </a:prstGeom>
          <a:solidFill>
            <a:srgbClr val="DD6B20">
              <a:alpha val="20000"/>
            </a:srgbClr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0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触发压缩?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≥80%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23760" y="3566160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4564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4360" y="3977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核心流程：每个 chunk 生成一次 think → 更新 memory → 检查压缩触发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完全不看任何问题 (Question-Blind)，确保记忆的纯净性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每个 chunk 保存一个 memory snapshot，供 Pass 4 复用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压缩事件自然发生：当 tokens ≥ 80% budget 时触发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多维度评分选择最优压缩范围，生成摘要替换旧 thinks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3-4: 任务规划 &amp; 样本分叉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84124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210312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2A9DB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3: Action Minimality 动作最小性决策树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828800" cy="4572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答案在当前视觉窗口?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0" y="1417320"/>
            <a:ext cx="1097280" cy="457200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solidFill>
            <a:srgbClr val="065A82">
              <a:alpha val="1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答案在 recent_thinks?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1097280" cy="457200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06240" y="1417320"/>
            <a:ext cx="1828800" cy="4572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答案在压缩摘要中?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417320"/>
            <a:ext cx="1097280" cy="457200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1965960"/>
            <a:ext cx="1828800" cy="457200"/>
          </a:xfrm>
          <a:prstGeom prst="rect">
            <a:avLst/>
          </a:prstGeom>
          <a:solidFill>
            <a:srgbClr val="1C7293">
              <a:alpha val="1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答案在 archive 中?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0" y="1965960"/>
            <a:ext cx="1097280" cy="457200"/>
          </a:xfrm>
          <a:prstGeom prst="rect">
            <a:avLst/>
          </a:prstGeom>
          <a:solidFill>
            <a:srgbClr val="DD6B20">
              <a:alpha val="30000"/>
            </a:srgbClr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recall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72400" y="1965960"/>
            <a:ext cx="914400" cy="457200"/>
          </a:xfrm>
          <a:prstGeom prst="rect">
            <a:avLst/>
          </a:prstGeom>
          <a:solidFill>
            <a:srgbClr val="E53E3E">
              <a:alpha val="30000"/>
            </a:srgbClr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uncertain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0" y="164592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219456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164592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15361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19456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98080" y="2194560"/>
            <a:ext cx="2286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0848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1874520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↓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377440" y="205740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" y="2514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如果压缩摘要包含答案 → 直接 response，不需要 recall！这保证了压缩摘要的实用性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017520"/>
            <a:ext cx="8412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3017520"/>
            <a:ext cx="73152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" y="31089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" dirty="0"/>
          </a:p>
        </p:txBody>
      </p:sp>
      <p:sp>
        <p:nvSpPr>
          <p:cNvPr id="44" name="Text 42"/>
          <p:cNvSpPr/>
          <p:nvPr/>
        </p:nvSpPr>
        <p:spPr>
          <a:xfrm>
            <a:off x="105156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4: Question-Aware Forks 样本分叉生成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4360" y="3520440"/>
            <a:ext cx="1280160" cy="640080"/>
          </a:xfrm>
          <a:prstGeom prst="rect">
            <a:avLst/>
          </a:prstGeom>
          <a:solidFill>
            <a:srgbClr val="1C7293">
              <a:alpha val="18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缓存快照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874520" y="384048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103120" y="3520440"/>
            <a:ext cx="1280160" cy="640080"/>
          </a:xfrm>
          <a:prstGeom prst="rect">
            <a:avLst/>
          </a:prstGeom>
          <a:solidFill>
            <a:srgbClr val="DD6B20">
              <a:alpha val="18000"/>
            </a:srgbClr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注入问题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到快照中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383280" y="3840480"/>
            <a:ext cx="640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37307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0" y="3520440"/>
            <a:ext cx="1280160" cy="640080"/>
          </a:xfrm>
          <a:prstGeom prst="rect">
            <a:avLst/>
          </a:prstGeom>
          <a:solidFill>
            <a:srgbClr val="065A82">
              <a:alpha val="18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0" y="3520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生成输出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think+action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920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212080" y="3611880"/>
            <a:ext cx="868680" cy="365760"/>
          </a:xfrm>
          <a:prstGeom prst="rect">
            <a:avLst/>
          </a:prstGeom>
          <a:solidFill>
            <a:srgbClr val="4A5568">
              <a:alpha val="30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0" y="3611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3611880"/>
            <a:ext cx="868680" cy="365760"/>
          </a:xfrm>
          <a:prstGeom prst="rect">
            <a:avLst/>
          </a:prstGeom>
          <a:solidFill>
            <a:srgbClr val="38A169">
              <a:alpha val="30000"/>
            </a:srgbClr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3611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132320" y="3611880"/>
            <a:ext cx="868680" cy="365760"/>
          </a:xfrm>
          <a:prstGeom prst="rect">
            <a:avLst/>
          </a:prstGeom>
          <a:solidFill>
            <a:srgbClr val="DD6B20">
              <a:alpha val="30000"/>
            </a:srgbClr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3611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092440" y="3611880"/>
            <a:ext cx="868680" cy="365760"/>
          </a:xfrm>
          <a:prstGeom prst="rect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92440" y="3611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" y="4160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 questions: 每个待答问题生成 3 个训练样本 (setup → wait → trigger)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动作优先级: user response &gt; pending trigger &gt; compress &gt; silent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 生成两个样本: recall_query + recall_response，post-recall 无 &lt;think&gt;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每个样本统一格式: input{system, memory, visual_window, user_input} + output{think, action, payload}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5: 五类质量验证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776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058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信息流合法性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07592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当前动作仅依赖 ask_time 可见信息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query 不含答案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提问前记忆是 question-blind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result 仅来自学生 archive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39776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100584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动作最小性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10328" y="1307592"/>
            <a:ext cx="3758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答案可见 → 必须 response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答案在摘要 → response 非 recall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无法回答 → 标记 uncertain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6060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B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651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事实接地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2953512"/>
            <a:ext cx="2386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由当前帧支持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摘要仅含被压缩 thinks 信息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禁止声音/气味/情感/意图推断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有明确证据支撑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73552" y="2606040"/>
            <a:ext cx="26060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6B2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651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格式与长度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953512"/>
            <a:ext cx="2386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40-60 tokens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压缩比 ≥ 2.5:1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JSON 有效且无 leakage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特殊标签格式严格匹配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2606040"/>
            <a:ext cx="260604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05AD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81928" y="265176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难度标注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928" y="2953512"/>
            <a:ext cx="2386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current_visible (Easy)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memory_response (Medium)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recall_required (Hard)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unanswerable (Very Hard)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206240"/>
            <a:ext cx="84124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验收标准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&lt; 14,746 tokens (16,384 × 90%)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 &lt; 0.5% (超出 max_seq_len 的样本比例)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token 均值在理论值 20% 以内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各类验证通过率 &gt; 95%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五阶段课程学习 (Curriculum Training)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1463040" cy="3657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46304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914400"/>
            <a:ext cx="2011680" cy="3657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3212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914400"/>
            <a:ext cx="1463040" cy="36576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914400"/>
            <a:ext cx="1463040" cy="365760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914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011680"/>
                <a:gridCol w="731520"/>
                <a:gridCol w="2377440"/>
                <a:gridCol w="731520"/>
                <a:gridCol w="731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样本数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学习目标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+ response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基础协议对齐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学会“何时沉默、何时回答”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recall + pending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引入检索与待答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学会“何时需要recall”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5e-6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compress w/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带范围指导的压缩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学会“如何写压缩摘要”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3e-6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05A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compress self-select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自主选择压缩范围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学会“压缩哪些内容”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A9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mixed, all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混合训练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综合能力融合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02920" y="4434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设计要点：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每阶段继承上一阶段 checkpoint，而非从 base model 重新开始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Per-timestep: 每个样本 ~3,500 tokens → batch size 8-16 (vs 传统 batch=4)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Attention mask: causal + padding only，无 sliding window（以便看到 recalled frames）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ThinkStream: 核心创新总结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2A9DB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Per-Timestep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消除 KV 累积，保证训练/推理一致性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RCSM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压缩记忆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 token 预算，支持无限长度视频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0789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多维度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压缩评分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优化未来可回答性，而非简单信息损失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跨模态时间对齐注意力增强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42316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prefill 减少，实时推理可行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2423160"/>
            <a:ext cx="2606040" cy="1188720"/>
          </a:xfrm>
          <a:prstGeom prst="rect">
            <a:avLst/>
          </a:prstGeom>
          <a:solidFill>
            <a:srgbClr val="21295C"/>
          </a:solidFill>
          <a:ln w="15240">
            <a:solidFill>
              <a:srgbClr val="2A9D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4963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Question-Blind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杰绝未来信息泄漏，训练数据纯净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1645920" cy="50292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4544568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60320" y="4297680"/>
            <a:ext cx="1645920" cy="502920"/>
          </a:xfrm>
          <a:prstGeom prst="rect">
            <a:avLst/>
          </a:prstGeom>
          <a:solidFill>
            <a:srgbClr val="1C7293">
              <a:alpha val="5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4544568"/>
            <a:ext cx="7315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4434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7293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297680"/>
            <a:ext cx="1645920" cy="502920"/>
          </a:xfrm>
          <a:prstGeom prst="rect">
            <a:avLst/>
          </a:prstGeom>
          <a:solidFill>
            <a:srgbClr val="2A9DB5">
              <a:alpha val="50000"/>
            </a:srgbClr>
          </a:solidFill>
          <a:ln w="12700">
            <a:solidFill>
              <a:srgbClr val="2A9D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4297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(GRPO)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 2603.12938  |  Thinking in Streaming Video  | 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ThinkStream: Thinking in Streaming Video</dc:title>
  <dc:subject>PptxGenJS Presentation</dc:subject>
  <dc:creator>ThinkStream Team</dc:creator>
  <cp:lastModifiedBy>ThinkStream Team</cp:lastModifiedBy>
  <cp:revision>1</cp:revision>
  <dcterms:created xsi:type="dcterms:W3CDTF">2026-04-22T13:48:26Z</dcterms:created>
  <dcterms:modified xsi:type="dcterms:W3CDTF">2026-04-22T13:48:26Z</dcterms:modified>
</cp:coreProperties>
</file>